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e37f09f7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e37f09f7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e37f09f7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e37f09f7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e37f09f7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e37f09f7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e37f09f7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ee37f09f7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449275"/>
            <a:ext cx="8520600" cy="14190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914400" rtl="0" algn="l">
              <a:spcBef>
                <a:spcPts val="0"/>
              </a:spcBef>
              <a:spcAft>
                <a:spcPts val="0"/>
              </a:spcAft>
              <a:buNone/>
            </a:pPr>
            <a:r>
              <a:rPr lang="en"/>
              <a:t>AGILE DEVELOPMENT</a:t>
            </a:r>
            <a:endParaRPr/>
          </a:p>
        </p:txBody>
      </p:sp>
      <p:sp>
        <p:nvSpPr>
          <p:cNvPr id="55" name="Google Shape;55;p13"/>
          <p:cNvSpPr txBox="1"/>
          <p:nvPr>
            <p:ph idx="1" type="subTitle"/>
          </p:nvPr>
        </p:nvSpPr>
        <p:spPr>
          <a:xfrm flipH="1" rot="10800000">
            <a:off x="311700" y="3626725"/>
            <a:ext cx="7677600" cy="150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56" name="Google Shape;56;p13" title="Final Project Chada Tech Logo.png"/>
          <p:cNvPicPr preferRelativeResize="0"/>
          <p:nvPr/>
        </p:nvPicPr>
        <p:blipFill>
          <a:blip r:embed="rId3">
            <a:alphaModFix/>
          </a:blip>
          <a:stretch>
            <a:fillRect/>
          </a:stretch>
        </p:blipFill>
        <p:spPr>
          <a:xfrm>
            <a:off x="2606496" y="0"/>
            <a:ext cx="3931000" cy="2904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Agile Roles</a:t>
            </a:r>
            <a:endParaRPr/>
          </a:p>
        </p:txBody>
      </p:sp>
      <p:sp>
        <p:nvSpPr>
          <p:cNvPr id="62" name="Google Shape;62;p14"/>
          <p:cNvSpPr txBox="1"/>
          <p:nvPr>
            <p:ph idx="1" type="body"/>
          </p:nvPr>
        </p:nvSpPr>
        <p:spPr>
          <a:xfrm>
            <a:off x="311700" y="1152475"/>
            <a:ext cx="8520600" cy="3876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Product Owner</a:t>
            </a:r>
            <a:endParaRPr/>
          </a:p>
          <a:p>
            <a:pPr indent="-317500" lvl="1" marL="914400" rtl="0" algn="l">
              <a:spcBef>
                <a:spcPts val="0"/>
              </a:spcBef>
              <a:spcAft>
                <a:spcPts val="0"/>
              </a:spcAft>
              <a:buSzPts val="1400"/>
              <a:buChar char="-"/>
            </a:pPr>
            <a:r>
              <a:rPr lang="en"/>
              <a:t>Maximize the output of the Development Team</a:t>
            </a:r>
            <a:endParaRPr/>
          </a:p>
          <a:p>
            <a:pPr indent="-317500" lvl="1" marL="914400" rtl="0" algn="l">
              <a:spcBef>
                <a:spcPts val="0"/>
              </a:spcBef>
              <a:spcAft>
                <a:spcPts val="0"/>
              </a:spcAft>
              <a:buSzPts val="1400"/>
              <a:buChar char="-"/>
            </a:pPr>
            <a:r>
              <a:rPr lang="en"/>
              <a:t>Manage the Backlog</a:t>
            </a:r>
            <a:endParaRPr/>
          </a:p>
          <a:p>
            <a:pPr indent="-317500" lvl="1" marL="914400" rtl="0" algn="l">
              <a:spcBef>
                <a:spcPts val="0"/>
              </a:spcBef>
              <a:spcAft>
                <a:spcPts val="0"/>
              </a:spcAft>
              <a:buSzPts val="1400"/>
              <a:buChar char="-"/>
            </a:pPr>
            <a:r>
              <a:rPr lang="en"/>
              <a:t>Keeps Clients and upper management at bay</a:t>
            </a:r>
            <a:endParaRPr/>
          </a:p>
          <a:p>
            <a:pPr indent="-342900" lvl="0" marL="457200" rtl="0" algn="l">
              <a:spcBef>
                <a:spcPts val="0"/>
              </a:spcBef>
              <a:spcAft>
                <a:spcPts val="0"/>
              </a:spcAft>
              <a:buSzPts val="1800"/>
              <a:buChar char="-"/>
            </a:pPr>
            <a:r>
              <a:rPr lang="en"/>
              <a:t>Scrum Master</a:t>
            </a:r>
            <a:endParaRPr/>
          </a:p>
          <a:p>
            <a:pPr indent="-317500" lvl="1" marL="914400" rtl="0" algn="l">
              <a:spcBef>
                <a:spcPts val="0"/>
              </a:spcBef>
              <a:spcAft>
                <a:spcPts val="0"/>
              </a:spcAft>
              <a:buSzPts val="1400"/>
              <a:buChar char="-"/>
            </a:pPr>
            <a:r>
              <a:rPr lang="en"/>
              <a:t>Bridge between the Product Onwer and Development Team</a:t>
            </a:r>
            <a:endParaRPr/>
          </a:p>
          <a:p>
            <a:pPr indent="-317500" lvl="1" marL="914400" rtl="0" algn="l">
              <a:spcBef>
                <a:spcPts val="0"/>
              </a:spcBef>
              <a:spcAft>
                <a:spcPts val="0"/>
              </a:spcAft>
              <a:buSzPts val="1400"/>
              <a:buChar char="-"/>
            </a:pPr>
            <a:r>
              <a:rPr lang="en"/>
              <a:t>Manages meetings and discusses Agile framework with team</a:t>
            </a:r>
            <a:endParaRPr/>
          </a:p>
          <a:p>
            <a:pPr indent="-317500" lvl="1" marL="914400" rtl="0" algn="l">
              <a:spcBef>
                <a:spcPts val="0"/>
              </a:spcBef>
              <a:spcAft>
                <a:spcPts val="0"/>
              </a:spcAft>
              <a:buSzPts val="1400"/>
              <a:buChar char="-"/>
            </a:pPr>
            <a:r>
              <a:rPr lang="en"/>
              <a:t>Leader of Scrum Events</a:t>
            </a:r>
            <a:endParaRPr/>
          </a:p>
          <a:p>
            <a:pPr indent="-342900" lvl="0" marL="457200" rtl="0" algn="l">
              <a:spcBef>
                <a:spcPts val="0"/>
              </a:spcBef>
              <a:spcAft>
                <a:spcPts val="0"/>
              </a:spcAft>
              <a:buSzPts val="1800"/>
              <a:buChar char="-"/>
            </a:pPr>
            <a:r>
              <a:rPr lang="en"/>
              <a:t>Development Team</a:t>
            </a:r>
            <a:endParaRPr/>
          </a:p>
          <a:p>
            <a:pPr indent="-317500" lvl="1" marL="914400" rtl="0" algn="l">
              <a:spcBef>
                <a:spcPts val="0"/>
              </a:spcBef>
              <a:spcAft>
                <a:spcPts val="0"/>
              </a:spcAft>
              <a:buSzPts val="1400"/>
              <a:buChar char="-"/>
            </a:pPr>
            <a:r>
              <a:rPr lang="en"/>
              <a:t>Is a mix of Developers and Testers</a:t>
            </a:r>
            <a:endParaRPr/>
          </a:p>
          <a:p>
            <a:pPr indent="-317500" lvl="1" marL="914400" rtl="0" algn="l">
              <a:spcBef>
                <a:spcPts val="0"/>
              </a:spcBef>
              <a:spcAft>
                <a:spcPts val="0"/>
              </a:spcAft>
              <a:buSzPts val="1400"/>
              <a:buChar char="-"/>
            </a:pPr>
            <a:r>
              <a:rPr lang="en"/>
              <a:t>Writes and tests code</a:t>
            </a:r>
            <a:endParaRPr/>
          </a:p>
          <a:p>
            <a:pPr indent="-317500" lvl="1" marL="914400" rtl="0" algn="l">
              <a:spcBef>
                <a:spcPts val="0"/>
              </a:spcBef>
              <a:spcAft>
                <a:spcPts val="0"/>
              </a:spcAft>
              <a:buSzPts val="1400"/>
              <a:buChar char="-"/>
            </a:pPr>
            <a:r>
              <a:rPr lang="en"/>
              <a:t>Estimates User Stories</a:t>
            </a:r>
            <a:endParaRPr/>
          </a:p>
          <a:p>
            <a:pPr indent="-317500" lvl="1" marL="914400" rtl="0" algn="l">
              <a:spcBef>
                <a:spcPts val="0"/>
              </a:spcBef>
              <a:spcAft>
                <a:spcPts val="0"/>
              </a:spcAft>
              <a:buSzPts val="1400"/>
              <a:buChar char="-"/>
            </a:pPr>
            <a:r>
              <a:rPr lang="en"/>
              <a:t>Works together to create a sense of ownership of the project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Software Development Lifecycle</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Analysis</a:t>
            </a:r>
            <a:endParaRPr/>
          </a:p>
          <a:p>
            <a:pPr indent="-310832" lvl="1" marL="914400" rtl="0" algn="l">
              <a:spcBef>
                <a:spcPts val="0"/>
              </a:spcBef>
              <a:spcAft>
                <a:spcPts val="0"/>
              </a:spcAft>
              <a:buSzPct val="100000"/>
              <a:buChar char="-"/>
            </a:pPr>
            <a:r>
              <a:rPr lang="en"/>
              <a:t>Meetings with Clients or Users to gain information about the goals of a Project</a:t>
            </a:r>
            <a:endParaRPr/>
          </a:p>
          <a:p>
            <a:pPr indent="-334328" lvl="0" marL="457200" rtl="0" algn="l">
              <a:spcBef>
                <a:spcPts val="0"/>
              </a:spcBef>
              <a:spcAft>
                <a:spcPts val="0"/>
              </a:spcAft>
              <a:buSzPct val="100000"/>
              <a:buChar char="-"/>
            </a:pPr>
            <a:r>
              <a:rPr lang="en"/>
              <a:t>Design</a:t>
            </a:r>
            <a:endParaRPr/>
          </a:p>
          <a:p>
            <a:pPr indent="-310832" lvl="1" marL="914400" rtl="0" algn="l">
              <a:spcBef>
                <a:spcPts val="0"/>
              </a:spcBef>
              <a:spcAft>
                <a:spcPts val="0"/>
              </a:spcAft>
              <a:buSzPct val="100000"/>
              <a:buChar char="-"/>
            </a:pPr>
            <a:r>
              <a:rPr lang="en"/>
              <a:t>Defines the User and Client requests into actionable ideas that can be programmed</a:t>
            </a:r>
            <a:endParaRPr/>
          </a:p>
          <a:p>
            <a:pPr indent="-310832" lvl="1" marL="914400" rtl="0" algn="l">
              <a:spcBef>
                <a:spcPts val="0"/>
              </a:spcBef>
              <a:spcAft>
                <a:spcPts val="0"/>
              </a:spcAft>
              <a:buSzPct val="100000"/>
              <a:buChar char="-"/>
            </a:pPr>
            <a:r>
              <a:rPr lang="en"/>
              <a:t>Estimates</a:t>
            </a:r>
            <a:r>
              <a:rPr lang="en"/>
              <a:t> time and cost and discusses other limitations</a:t>
            </a:r>
            <a:endParaRPr/>
          </a:p>
          <a:p>
            <a:pPr indent="-334328" lvl="0" marL="457200" rtl="0" algn="l">
              <a:spcBef>
                <a:spcPts val="0"/>
              </a:spcBef>
              <a:spcAft>
                <a:spcPts val="0"/>
              </a:spcAft>
              <a:buSzPct val="100000"/>
              <a:buChar char="-"/>
            </a:pPr>
            <a:r>
              <a:rPr lang="en"/>
              <a:t>Implementation</a:t>
            </a:r>
            <a:endParaRPr/>
          </a:p>
          <a:p>
            <a:pPr indent="-310832" lvl="1" marL="914400" rtl="0" algn="l">
              <a:spcBef>
                <a:spcPts val="0"/>
              </a:spcBef>
              <a:spcAft>
                <a:spcPts val="0"/>
              </a:spcAft>
              <a:buSzPct val="100000"/>
              <a:buChar char="-"/>
            </a:pPr>
            <a:r>
              <a:rPr lang="en"/>
              <a:t>Development teams produce code to solve the user </a:t>
            </a:r>
            <a:r>
              <a:rPr lang="en"/>
              <a:t>requests</a:t>
            </a:r>
            <a:r>
              <a:rPr lang="en"/>
              <a:t> and improve the software</a:t>
            </a:r>
            <a:endParaRPr/>
          </a:p>
          <a:p>
            <a:pPr indent="-334328" lvl="0" marL="457200" rtl="0" algn="l">
              <a:spcBef>
                <a:spcPts val="0"/>
              </a:spcBef>
              <a:spcAft>
                <a:spcPts val="0"/>
              </a:spcAft>
              <a:buSzPct val="100000"/>
              <a:buChar char="-"/>
            </a:pPr>
            <a:r>
              <a:rPr lang="en"/>
              <a:t>Testing</a:t>
            </a:r>
            <a:endParaRPr/>
          </a:p>
          <a:p>
            <a:pPr indent="-310832" lvl="1" marL="914400" rtl="0" algn="l">
              <a:spcBef>
                <a:spcPts val="0"/>
              </a:spcBef>
              <a:spcAft>
                <a:spcPts val="0"/>
              </a:spcAft>
              <a:buSzPct val="100000"/>
              <a:buChar char="-"/>
            </a:pPr>
            <a:r>
              <a:rPr lang="en"/>
              <a:t>The code is tested on dummy servers in order to find bugs, both as errors in the actual written code or as logical bugs in how the code works within the larger framework fo the codebase.</a:t>
            </a:r>
            <a:endParaRPr/>
          </a:p>
          <a:p>
            <a:pPr indent="-334328" lvl="0" marL="457200" rtl="0" algn="l">
              <a:spcBef>
                <a:spcPts val="0"/>
              </a:spcBef>
              <a:spcAft>
                <a:spcPts val="0"/>
              </a:spcAft>
              <a:buSzPct val="100000"/>
              <a:buChar char="-"/>
            </a:pPr>
            <a:r>
              <a:rPr lang="en"/>
              <a:t>Deployment</a:t>
            </a:r>
            <a:endParaRPr/>
          </a:p>
          <a:p>
            <a:pPr indent="-310832" lvl="1" marL="914400" rtl="0" algn="l">
              <a:spcBef>
                <a:spcPts val="0"/>
              </a:spcBef>
              <a:spcAft>
                <a:spcPts val="0"/>
              </a:spcAft>
              <a:buSzPct val="100000"/>
              <a:buChar char="-"/>
            </a:pPr>
            <a:r>
              <a:rPr lang="en"/>
              <a:t>The Code is sent in an update to a live server where it is available for public use.</a:t>
            </a:r>
            <a:endParaRPr/>
          </a:p>
          <a:p>
            <a:pPr indent="-334328" lvl="0" marL="457200" rtl="0" algn="l">
              <a:spcBef>
                <a:spcPts val="0"/>
              </a:spcBef>
              <a:spcAft>
                <a:spcPts val="0"/>
              </a:spcAft>
              <a:buSzPct val="100000"/>
              <a:buChar char="-"/>
            </a:pPr>
            <a:r>
              <a:rPr lang="en"/>
              <a:t>Maintenance</a:t>
            </a:r>
            <a:endParaRPr/>
          </a:p>
          <a:p>
            <a:pPr indent="-310832" lvl="1" marL="914400" rtl="0" algn="l">
              <a:spcBef>
                <a:spcPts val="0"/>
              </a:spcBef>
              <a:spcAft>
                <a:spcPts val="0"/>
              </a:spcAft>
              <a:buSzPct val="100000"/>
              <a:buChar char="-"/>
            </a:pPr>
            <a:r>
              <a:rPr lang="en"/>
              <a:t>Developers take user reports to locate bugs, where they either apply quick patches to fix them or the cycle starts anew to implement </a:t>
            </a:r>
            <a:r>
              <a:rPr lang="en"/>
              <a:t>larger</a:t>
            </a:r>
            <a:r>
              <a:rPr lang="en"/>
              <a:t> fixes to more majore issues.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Waterfall Methodology</a:t>
            </a:r>
            <a:endParaRPr/>
          </a:p>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Waterfall Method is the naive approach to software development. It makes the most logical sense at first. You have a goal for some software to complete, so you define the output, the input, and the languages you want to use. Then you code it, test it, fix it, and when it works, apply it to solve the </a:t>
            </a:r>
            <a:r>
              <a:rPr lang="en"/>
              <a:t>problem. This method used to work, but as the world grows more complex, the waterfall method is left in the dust. All requirements must be stated at the outset, and code is written with a goal to solve the problem at hand, and not in a way that is expected to require updates and change. This has caused many companies to have issues with getting projects done on time and often leads to overworked and stressed out employees.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Agile Vs Waterfall</a:t>
            </a:r>
            <a:endParaRPr/>
          </a:p>
        </p:txBody>
      </p:sp>
      <p:sp>
        <p:nvSpPr>
          <p:cNvPr id="80" name="Google Shape;80;p1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2800">
                <a:solidFill>
                  <a:schemeClr val="dk1"/>
                </a:solidFill>
              </a:rPr>
              <a:t>Agile</a:t>
            </a:r>
            <a:endParaRPr/>
          </a:p>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en"/>
              <a:t>Does not require that all goals are stated at the outset.</a:t>
            </a:r>
            <a:endParaRPr/>
          </a:p>
          <a:p>
            <a:pPr indent="-342900" lvl="0" marL="457200" rtl="0" algn="l">
              <a:spcBef>
                <a:spcPts val="0"/>
              </a:spcBef>
              <a:spcAft>
                <a:spcPts val="0"/>
              </a:spcAft>
              <a:buSzPts val="1800"/>
              <a:buChar char="-"/>
            </a:pPr>
            <a:r>
              <a:rPr lang="en"/>
              <a:t>Allows for change because projects are developed in pieces.</a:t>
            </a:r>
            <a:endParaRPr/>
          </a:p>
          <a:p>
            <a:pPr indent="-342900" lvl="0" marL="457200" rtl="0" algn="l">
              <a:spcBef>
                <a:spcPts val="0"/>
              </a:spcBef>
              <a:spcAft>
                <a:spcPts val="0"/>
              </a:spcAft>
              <a:buSzPts val="1800"/>
              <a:buChar char="-"/>
            </a:pPr>
            <a:r>
              <a:rPr lang="en"/>
              <a:t>Deadlines are based on sprints and are less stressful</a:t>
            </a:r>
            <a:endParaRPr/>
          </a:p>
        </p:txBody>
      </p:sp>
      <p:sp>
        <p:nvSpPr>
          <p:cNvPr id="81" name="Google Shape;81;p17"/>
          <p:cNvSpPr txBox="1"/>
          <p:nvPr/>
        </p:nvSpPr>
        <p:spPr>
          <a:xfrm>
            <a:off x="4572000" y="1152475"/>
            <a:ext cx="4260300" cy="36465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
              <a:t> </a:t>
            </a:r>
            <a:r>
              <a:rPr lang="en" sz="2800">
                <a:solidFill>
                  <a:schemeClr val="dk1"/>
                </a:solidFill>
              </a:rPr>
              <a:t>Waterfall</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Requirements must be well defined at the outset</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Steps are sequential, and must wait for the previous task to be completed first</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Simpler to implement than Agile, so it is better used for simpler projects</a:t>
            </a:r>
            <a:endParaRPr sz="1800">
              <a:solidFill>
                <a:schemeClr val="dk2"/>
              </a:solidFill>
            </a:endParaRPr>
          </a:p>
          <a:p>
            <a:pPr indent="0" lvl="0" marL="0" rtl="0" algn="l">
              <a:lnSpc>
                <a:spcPct val="200000"/>
              </a:lnSpc>
              <a:spcBef>
                <a:spcPts val="12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